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07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D:\Code\ussp\clients\dcfs-ilc\assets\krasa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14400"/>
            <a:ext cx="21945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Agile Delivery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for DCFS Illinois Connect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3840480"/>
            <a:ext cx="6702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DCFS Illinois Connect Leadership
Presented by: Vinay Lagisetty &amp; Emil "Romi" Kovacs
Krasan Consulting Services
</a:t>
            </a:r>
            <a:r>
              <a:rPr lang="en-US" sz="14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 V20260422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KRASAN INTERNAL + DCFS LEADERSHIP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Connect — The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Connect is migrating three legacy systems — SACWIS, CYCIS, and MARS — to a unified CCWIS platform on Microsoft Dynamics 365. Across 12 SAFe product teams and 160+ Krasan consultants, this ART is delivering critical capabilities for DCFS.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AI, Why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is becoming standard for high-performing delivery teams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State has already invested in GitHub Copilot and Atlassian Rovo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Teams are delivering well — AI builds on a strong 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Krasan is developing a structured AI transformation framework — designed for engagements like ILC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EF0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10-15% productivity improvement — measured by tangible outputs, not story points. Pilot establishes the trajectory; schedule under finalization.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356616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Amplify, Don't Replace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Same people, better tools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workforce reduction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486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assists, human decides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4480560"/>
            <a:ext cx="356616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056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Measure, Don't Guess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Baseline first, then compare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Tangible outputs: LOC, docs, config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5486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Before/after with control group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4480560"/>
            <a:ext cx="356616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2104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Pilot, Then Scale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Start with 1 team (Intact), 5 roles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adoption from day 1 under HITL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5486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Scale what works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— Krasan's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to work within government guardrails while delivering measurable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7452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452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4380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6112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4984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37844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7844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4552" cy="3169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 with DoIT AI Policy, define guardrails, confirm tool access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Proposal, Compliance Map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 current metrics from JIRA (last 3 sprints)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Metrics Report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current → AI-augmented state per role; tools and methods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Design Docs, Playbooks, Training Plan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Role-specific training: responsible AI use, prompts, guardrails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Completion Report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team (Intact), 5 roles for Sprints PI 6.2.1 &amp; PI 6.2.2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Check-in Reports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metrics; pilot vs baseline vs control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Results Report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Playbook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Codify what worked — living docs, updated continuously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out to remaining teams based on proven results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ART-Wide Rollout Plan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— Govern, Baseline &amp;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Pilot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38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611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611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Playbook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498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3784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784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Govern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DoIT AI Policy — all 12 sections mapped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NIST AI RMF governance framework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Establish governance team (DCFS-led)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Code generation policy — HITL compliant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356616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Deliverable: Governance Proposal &amp; Compliance Map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976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Baseline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891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Capture current metrics from JIRA (last 3 sprints)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3891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Readiness assessment — all 12 teams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8912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Pilot team selected: Intact — 5 roles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891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Team health survey (SPACE/DevEx)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297680" y="4343400"/>
            <a:ext cx="356616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38912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Deliverable: Baseline Metrics Report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381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Design / Develop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Map current → AI-augmented state per role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AI-assisted code generation under HITL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2960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Dynamics configuration exploration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2960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Build training materials from process designs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138160" y="4343400"/>
            <a:ext cx="356616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2960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Deliverable: Process Design Docs, Playbooks &amp; Training Plan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Train, Pilot &amp; Measure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Pilot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38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611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611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Playbook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498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3784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784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Train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Foundation (all): DoIT compliance, guardrails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BA — story quality, AC generation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Tester — test generation from AC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Developer — code explanation, docs, refactoring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218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SA — SDD, architecture, pre-ARB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3493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Testing Services Lead — testing strategy, cross-team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356616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Deliverable: Training Completion Report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976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Pilot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8912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1 team (Intact) — 5 roles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8912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Remaining teams as control group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8912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Sprints PI 6.2.1 &amp; PI 6.2.2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8912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Pair programmers (1 per role) for ~2 sprints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AI-assisted from day 1 under HITL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97680" y="4846320"/>
            <a:ext cx="356616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89120" y="4846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Deliverable: Weekly Check-in Reports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1381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Measure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2960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Pre/post comparison vs baseline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22960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Pilot vs control teams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8-12 metrics across 4 families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296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SPACE team health survey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22960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 Weekly bias / quality spot checks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138160" y="4846320"/>
            <a:ext cx="356616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29600" y="4846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Deliverable: Pilot Results Report, Lessons Learned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&amp;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Pilot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38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611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611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Playbook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498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3784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784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Playbook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Living documents — drafted in Design, refined through Pilot, v1.0 at end of pilot: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2377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BA Playbook — story writing, AC generation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2651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Tester Playbook — test generation, edge cases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2926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Developer Playbook — code, docs, refactoring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200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SA Playbook — SDD, architecture, pre-ARB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3474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Testing Services Playbook — testing strategy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4340" y="4896751"/>
            <a:ext cx="54864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5780" y="4896751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Deliverable: Finalized Playbooks (updated with pilot lessons)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Scale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Expand based on proven results, not assumptions.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83680" y="2377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Go/no-go decision based on pilot data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0" y="2697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Pair programmers redeploy to 5 other teams (Wave 1)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8368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Phased rollout — not all teams at once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0" y="3337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DCFS AI champions embedded per role per team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•  Continuous measurement at ART level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377940" y="4896751"/>
            <a:ext cx="54864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69380" y="4896751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Deliverable: ART-Wide Rollout Plan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— Two-Phase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Lightweight during pilot. DCFS AI Governance Team stood up DURING the pilot so they can approve results before scale.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Phase A — Pilot Governance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Runs the pilot · weekly 45 min · documentation over formal approval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5669280" cy="1219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Filled by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Pilot Governance Lead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DCFS designee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Executive Sponsor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Agency CIO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Security &amp; Privacy observer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DCFS designee (optional)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457200" y="3566160"/>
            <a:ext cx="56692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Authority: approve pilot scope, tools, guardrails. Can halt pilot on safety concern. NOT in scope: ART-wide scale decisions.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Krasan AI Transformation Lead + Engagement Director present to team; not members.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1371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</a:rPr>
              <a:t>Phase B — DCFS AI Governance Team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09360" y="16916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Stood up DURING pilot · monthly 60 min · approves scale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09360" y="2011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Minimum Viable (3 seats) — start immediately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86000"/>
          <a:ext cx="5669280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Executive Sponsor (CIO)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DCFS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AI Governance Chair (+ Program)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DCFS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Security &amp; Privacy Lead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DCFS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309360" y="3566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888"/>
                </a:solidFill>
              </a:rPr>
              <a:t>Expanded (adds 3 seats) — as pilot matures</a:t>
            </a:r>
            <a:endParaRPr lang="en-US" sz="14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840480"/>
          <a:ext cx="5669280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777777"/>
                          </a:solidFill>
                        </a:rPr>
                        <a:t>Program Director (split from Chair)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777777"/>
                          </a:solidFill>
                        </a:rPr>
                        <a:t>DCFS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777777"/>
                          </a:solidFill>
                        </a:rPr>
                        <a:t>Data Privacy Officer (split from Security)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777777"/>
                          </a:solidFill>
                        </a:rPr>
                        <a:t>DCFS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777777"/>
                          </a:solidFill>
                        </a:rPr>
                        <a:t>Business Representative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777777"/>
                          </a:solidFill>
                        </a:rPr>
                        <a:t>DCFS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457200" y="5120640"/>
            <a:ext cx="11274552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40080" y="5166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⚠ Key dependency: Phase B team should be seated by July so they can review pilot results + approve playbooks at end of pilot. If not seated in time, scale decisions slip.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58064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888888"/>
                </a:solidFill>
              </a:rPr>
              <a:t>Aligned with NIST AI RMF GOVERN 2 + DoIT AI Policy §4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— Existing Investment + Pending Confirmations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</a:rPr>
              <a:t>✅ Already invested by the State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669280" cy="883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Primary roles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GitHub Copilot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Developer (plugins, APIs, logic apps)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Atlassian Rovo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BA, Tester — story/test drafts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468880"/>
            <a:ext cx="5669280" cy="4572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Copilot supports multiple models (OpenAI, Google, Anthropic) — approval status needs validation with DCFS / DoIT.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1005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</a:rPr>
              <a:t>⏳ Pending confirmation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669280" cy="883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Why we need it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Microsoft 365 Copilot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SA — SDD, Word, Visio, SharePoint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Dynamics 365 Copilot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Platform Dev — config-first workflow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309360" y="2468880"/>
            <a:ext cx="5669280" cy="457200"/>
          </a:xfrm>
          <a:prstGeom prst="rect">
            <a:avLst/>
          </a:prstGeom>
          <a:solidFill>
            <a:srgbClr val="FEF0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Needed before pilot start to enable SA + Platform Dev tracks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3108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Open questions we need answered</a:t>
            </a:r>
            <a:endParaRPr lang="en-US" sz="14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11274552" cy="20116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Why it matters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GitHub Copilot tier (Business / Enterprise)?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Only Business/Enterprise keeps code out of training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Atlassian Rovo tier?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Lower tiers are orchestration-only; BA/Tester tracks need generative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Microsoft 365 Copilot licensed + available to pilot?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Need DCFS licensing + budget confirmation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Dynamics 365 Copilot enabled in Dynamics GCC?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Platform Dev track depends on this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§5e: Copilot on ILC source = "State data for AI"?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Determines if Agency Head written consent required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Which AI models (OpenAI, Google, Anthropic) State-approved?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Enterprise admin sets model policy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solidFill>
            <a:srgbClr val="FEF0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⚠ Risk / dependency: Tool access must be confirmed and provisioned before Design &amp; Develop can start. Any delay cascades into training and pilot start.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— PI 6 Pilot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Anchored to PI 6 Planning on May 5. Govern &amp; Design phases run in parallel before PI starts.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078508"/>
              </p:ext>
            </p:extLst>
          </p:nvPr>
        </p:nvGraphicFramePr>
        <p:xfrm>
          <a:off x="457200" y="1371600"/>
          <a:ext cx="11286437" cy="40690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62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 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 Cadence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 Plan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Post-pilot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DoIT policy, tool access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JIRA metrics, survey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mapping, playbook drafts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role tracks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Intact — Sprint PI 6.2.1 → PI 6.2.5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metrics + before/after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Playbook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Drafted 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refining 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v1.0 in Aug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decision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A5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136" y="572977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Pilot scope (draft): Intact team, 5 roles. Team composition will be finalized after the baselining phase.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Pair-Programmer Strategy — For Discussion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5 AI-experienced specialists (one per pilot role) accelerate the pilot — then redeploy as embedded AI specialists into 5 other teams to enable scale. Same hiring investment, used twice. Proposed model — open for DCFS feedback.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6692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</a:rPr>
              <a:t>Phase 1 — Pilot (May → Jul)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5 specialists × 1 Intact pilot team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5394960" cy="1722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Pair programmer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Tester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AI-experienced Tester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Solution Architect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AI-experienced SA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Business Analyst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AI-experienced BA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Developer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AI-experienced Dev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Testing Services Lead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AI-experienced testing lead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251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</a:rPr>
              <a:t>Sprints PI 6.2.1–6.2.2 (co-pilot): Work side-by-side. Sprints PI 6.2.3–6.2.5 (coach): DCFS member owns work, specialist advises.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6692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649224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</a:rPr>
              <a:t>Phase 2 — Scale Wave 1 (Aug onward)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19659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Same 5 specialists × 5 other ILC teams = scale mechanism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40280"/>
          <a:ext cx="5394960" cy="1722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Team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Embedded AI specialist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Team 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 specialist (rotates through role)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Team 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 specialist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Team 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 specialist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Team 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 specialist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Team 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 specialist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492240" y="4251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</a:rPr>
              <a:t>~2 sprints per team, then rotate. Output: each team finishes with named internal DCFS AI champion per role.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5029200"/>
            <a:ext cx="5669280" cy="5486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0080" y="5029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Exit strategy: Specialists rotate out team by team. 30+ DCFS internal AI champions by end of Wave 1; consultants phased out.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09360" y="5029200"/>
            <a:ext cx="566928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92240" y="5029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Why this matters: Same pilot hiring investment becomes the scale mechanism. Playbooks battle-tested across 6 teams, not just 1.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5669280"/>
            <a:ext cx="11521440" cy="457200"/>
          </a:xfrm>
          <a:prstGeom prst="rect">
            <a:avLst/>
          </a:prstGeom>
          <a:solidFill>
            <a:srgbClr val="FEF0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0080" y="566928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⚠ Key constraint: Finding the right AI-experienced specialists is difficult. Hiring velocity is a real risk — stair-step onboarding is the mitigation.</a:t>
            </a:r>
            <a:endParaRPr lang="en-US" sz="1400" dirty="0"/>
          </a:p>
        </p:txBody>
      </p:sp>
      <p:sp>
        <p:nvSpPr>
          <p:cNvPr id="13" name="Text 17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— What Could Derail 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Top risks actively managing. Flagging for awareness; asking DCFS for any risks (audits, release freezes, Maximus reviews, leadership) we have not captured.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Lik.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 in progress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DoIT 30-day notice delays pilot start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Unknown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Template + owner + parallel-work determination in this meeting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Tool access not in place before Design &amp; Develop (Copilot tier, M365/D365 Copilot)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Close 6 tool questions this week; fallback to sequenced training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§5e ambiguity — Copilot on source = "State data for AI"?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Written determination requested from DCFS interim AI lead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Pair-programmer hiring velocity — 5-6 external hires needed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Stair-step onboarding; start with 1-2 roles; Krasan bench in progress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10-15% target on config-first platform — ambitious, small sample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Frame as trajectory; 2-PI full adoption; measure trends not absolutes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V3 workflow transition is a measurement confound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Freeze Intact workflow, or record state alongside each measurement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State pulls AI tools mid-pilot (CMS Oct 2025 precedent)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Full DoIT + NIST compliance upfront; documentation first-class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Sensitive data in AI prompts (PII, case data)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"No PII" training; per-sprint spot checks; incident reporting path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Full risk register (20+ items with owners + status) in planning/deliverables/assumptions-and-risks.md. Reviewed weekly in Pilot Governance meetings.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solidFill>
            <a:srgbClr val="FEF0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Ask for DCFS: Any risks we have not captured? Production release freeze, Maximus audit window, leadership transitions, federal reporting deadlines?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D:\Code\ussp\clients\dcfs-ilc\assets\krasa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219456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460"/>
                </a:solidFill>
              </a:rPr>
              <a:t>Discussion &amp; Next Steps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 productivity improvement — tangible outputs, not story points
</a:t>
            </a:r>
            <a:r>
              <a:rPr lang="en-US" sz="15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team = Intact, 5 roles (draft — confirmed after baselining)
</a:t>
            </a:r>
            <a:r>
              <a:rPr lang="en-US" sz="15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work from day 1 under mandatory Human-in-the-Loop review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11274552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</a:rPr>
              <a:t>What we need from DCFS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🔴 This week — pilot blockers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§5e written determination (Copilot on source = State data?)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Tool availability (6 questions confirmed)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DoIT 30-day notice template + owner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850F"/>
                </a:solidFill>
              </a:rPr>
              <a:t>🟡 This month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Pilot Governance Lead — DCFS designee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936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Security &amp; Privacy observer (optional)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0936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• Clearance process + timeline for pair-programming AI specialists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Krasan drives execution. DCFS provides these decisions + designees.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KRASAN CONSULTING SERVICES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2149</Words>
  <Application>Microsoft Office PowerPoint</Application>
  <PresentationFormat>Custom</PresentationFormat>
  <Paragraphs>389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Krasan Consulting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Agile Delivery — Framework for DCFS Illinois Connect</dc:title>
  <dc:subject>PptxGenJS Presentation</dc:subject>
  <dc:creator>Krasan Consulting Services</dc:creator>
  <cp:lastModifiedBy>Vinay Kumar</cp:lastModifiedBy>
  <cp:revision>4</cp:revision>
  <dcterms:created xsi:type="dcterms:W3CDTF">2026-04-22T19:42:51Z</dcterms:created>
  <dcterms:modified xsi:type="dcterms:W3CDTF">2026-04-22T20:43:14Z</dcterms:modified>
</cp:coreProperties>
</file>