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2011680"/>
            <a:ext cx="103601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AI-Augmented Agile Delivery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914400" y="2926080"/>
            <a:ext cx="103601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 for DCFS Illinois Connect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743200" y="3840480"/>
            <a:ext cx="67025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for: Jim Daugherty, CIO — DCFS / DeWitt
</a:t>
            </a:r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Presented by: Vinay Lagisetty &amp; Emil "Romi" Kovacs
</a:t>
            </a:r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Krasan Consulting Services
</a:t>
            </a:r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April 13, 2026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0" y="630936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KRASAN INTERNAL + DCFS LEADERSHIP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822960"/>
            <a:ext cx="12188952" cy="36576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2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11274552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072591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Topic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Illinois Connect — The Opportunity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Framework — Krasan's Approach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Where We Are — Govern, Baseline &amp; Design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Train, Pilot &amp; Measure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Playbook &amp; Scale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Discussion &amp; Next Steps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57200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Supporting detail — Capability map, measurement, timeline, and asks are in the appendix for reference.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1115568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8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822960"/>
            <a:ext cx="12188952" cy="36576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Illinois Connect — The Opportunity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Program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Illinois Connect is migrating three legacy systems — SACWIS, CYCIS, and MARS — to a unified CCWIS platform on Microsoft Dynamics 365. Across 12 SAFe product teams and 160+ Krasan consultants, this ART is delivering critical capabilities for DCFS.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21945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AI, Why Now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56032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AI is becoming standard for high-performing delivery teams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288036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The State has already invested in GitHub Copilot and Atlassian Rovo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320040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Teams are delivering well — AI builds on a strong foundation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352044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Krasan is developing a structured AI transformation framework — designed for engagements like ILC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931920"/>
            <a:ext cx="11274552" cy="548640"/>
          </a:xfrm>
          <a:prstGeom prst="rect">
            <a:avLst>
              <a:gd name="adj" fmla="val 8333"/>
            </a:avLst>
          </a:prstGeom>
          <a:solidFill>
            <a:srgbClr val="E8F5E9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9319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Objective: Apply AI to SAFe delivery processes — pilot with select teams, measure the impact, scale what works.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4754880"/>
            <a:ext cx="3566160" cy="1828800"/>
          </a:xfrm>
          <a:prstGeom prst="rect">
            <a:avLst>
              <a:gd name="adj" fmla="val 2500"/>
            </a:avLst>
          </a:prstGeom>
          <a:solidFill>
            <a:srgbClr val="F5F5F5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8463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Amplify, Don't Replace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31520" y="521208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Same people, better tools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31520" y="54864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No workforce reduction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1520" y="57607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AI assists, human decides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297680" y="4754880"/>
            <a:ext cx="3566160" cy="1828800"/>
          </a:xfrm>
          <a:prstGeom prst="rect">
            <a:avLst>
              <a:gd name="adj" fmla="val 2500"/>
            </a:avLst>
          </a:prstGeom>
          <a:solidFill>
            <a:srgbClr val="F5F5F5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80560" y="48463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Measure, Don't Guess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0" y="521208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Baseline first, then compare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0" y="54864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Select up to 8 KPIs that matter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0" y="57607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Before/after with control group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138160" y="4754880"/>
            <a:ext cx="3566160" cy="1828800"/>
          </a:xfrm>
          <a:prstGeom prst="rect">
            <a:avLst>
              <a:gd name="adj" fmla="val 2500"/>
            </a:avLst>
          </a:prstGeom>
          <a:solidFill>
            <a:srgbClr val="F5F5F5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321040" y="48463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Pilot, Then Scale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412480" y="521208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Start with 2 teams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412480" y="54864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Select targeted SDLC processes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412480" y="57607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Scale what works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15568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8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822960"/>
            <a:ext cx="12188952" cy="36576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Framework — Krasan's Approach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the framework Krasan is building for ILC — structured to work within government guardrails while delivering measurable results.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1188720" cy="457200"/>
          </a:xfrm>
          <a:prstGeom prst="roundRect">
            <a:avLst>
              <a:gd name="adj" fmla="val 10000"/>
            </a:avLst>
          </a:prstGeom>
          <a:solidFill>
            <a:srgbClr val="0F346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46304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645920" y="146304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874520" y="1463040"/>
            <a:ext cx="1188720" cy="457200"/>
          </a:xfrm>
          <a:prstGeom prst="roundRect">
            <a:avLst>
              <a:gd name="adj" fmla="val 10000"/>
            </a:avLst>
          </a:prstGeom>
          <a:solidFill>
            <a:srgbClr val="0F3460"/>
          </a:solidFill>
          <a:ln/>
        </p:spPr>
      </p:sp>
      <p:sp>
        <p:nvSpPr>
          <p:cNvPr id="9" name="Text 7"/>
          <p:cNvSpPr/>
          <p:nvPr/>
        </p:nvSpPr>
        <p:spPr>
          <a:xfrm>
            <a:off x="1874520" y="146304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63240" y="146304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91840" y="1463040"/>
            <a:ext cx="1188720" cy="457200"/>
          </a:xfrm>
          <a:prstGeom prst="roundRect">
            <a:avLst>
              <a:gd name="adj" fmla="val 10000"/>
            </a:avLst>
          </a:prstGeom>
          <a:solidFill>
            <a:srgbClr val="0F3460"/>
          </a:solidFill>
          <a:ln/>
        </p:spPr>
      </p:sp>
      <p:sp>
        <p:nvSpPr>
          <p:cNvPr id="12" name="Text 10"/>
          <p:cNvSpPr/>
          <p:nvPr/>
        </p:nvSpPr>
        <p:spPr>
          <a:xfrm>
            <a:off x="3291840" y="146304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80560" y="146304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09160" y="1463040"/>
            <a:ext cx="1188720" cy="457200"/>
          </a:xfrm>
          <a:prstGeom prst="roundRect">
            <a:avLst>
              <a:gd name="adj" fmla="val 10000"/>
            </a:avLst>
          </a:prstGeom>
          <a:solidFill>
            <a:srgbClr val="0F3460"/>
          </a:solidFill>
          <a:ln/>
        </p:spPr>
      </p:sp>
      <p:sp>
        <p:nvSpPr>
          <p:cNvPr id="15" name="Text 13"/>
          <p:cNvSpPr/>
          <p:nvPr/>
        </p:nvSpPr>
        <p:spPr>
          <a:xfrm>
            <a:off x="4709160" y="146304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897880" y="146304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26480" y="1463040"/>
            <a:ext cx="1188720" cy="457200"/>
          </a:xfrm>
          <a:prstGeom prst="roundRect">
            <a:avLst>
              <a:gd name="adj" fmla="val 10000"/>
            </a:avLst>
          </a:prstGeom>
          <a:solidFill>
            <a:srgbClr val="0F3460"/>
          </a:solidFill>
          <a:ln/>
        </p:spPr>
      </p:sp>
      <p:sp>
        <p:nvSpPr>
          <p:cNvPr id="18" name="Text 16"/>
          <p:cNvSpPr/>
          <p:nvPr/>
        </p:nvSpPr>
        <p:spPr>
          <a:xfrm>
            <a:off x="6126480" y="146304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315200" y="146304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543800" y="1463040"/>
            <a:ext cx="1188720" cy="457200"/>
          </a:xfrm>
          <a:prstGeom prst="roundRect">
            <a:avLst>
              <a:gd name="adj" fmla="val 10000"/>
            </a:avLst>
          </a:prstGeom>
          <a:solidFill>
            <a:srgbClr val="0F3460"/>
          </a:solidFill>
          <a:ln/>
        </p:spPr>
      </p:sp>
      <p:sp>
        <p:nvSpPr>
          <p:cNvPr id="21" name="Text 19"/>
          <p:cNvSpPr/>
          <p:nvPr/>
        </p:nvSpPr>
        <p:spPr>
          <a:xfrm>
            <a:off x="7543800" y="146304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732520" y="146304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961120" y="1463040"/>
            <a:ext cx="1188720" cy="457200"/>
          </a:xfrm>
          <a:prstGeom prst="roundRect">
            <a:avLst>
              <a:gd name="adj" fmla="val 10000"/>
            </a:avLst>
          </a:prstGeom>
          <a:solidFill>
            <a:srgbClr val="0F3460"/>
          </a:solidFill>
          <a:ln/>
        </p:spPr>
      </p:sp>
      <p:sp>
        <p:nvSpPr>
          <p:cNvPr id="24" name="Text 22"/>
          <p:cNvSpPr/>
          <p:nvPr/>
        </p:nvSpPr>
        <p:spPr>
          <a:xfrm>
            <a:off x="8961120" y="146304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Playbook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149840" y="146304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10378440" y="1463040"/>
            <a:ext cx="1188720" cy="457200"/>
          </a:xfrm>
          <a:prstGeom prst="roundRect">
            <a:avLst>
              <a:gd name="adj" fmla="val 10000"/>
            </a:avLst>
          </a:prstGeom>
          <a:solidFill>
            <a:srgbClr val="0F3460"/>
          </a:solidFill>
          <a:ln/>
        </p:spPr>
      </p:sp>
      <p:sp>
        <p:nvSpPr>
          <p:cNvPr id="27" name="Text 25"/>
          <p:cNvSpPr/>
          <p:nvPr/>
        </p:nvSpPr>
        <p:spPr>
          <a:xfrm>
            <a:off x="10378440" y="146304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7455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858000"/>
                <a:gridCol w="3319272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HAPPENS (illustrative)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DELIVERABLE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Align with DoIT AI Policy, define guardrails, confirm tool access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Usage Playbook, Compliance Map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Baseline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Capture current velocity, quality, and cycle time from JIRA (last 3 sprints)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Baseline Metrics Report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Design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Map current → AI-augmented state for SDLC processes; define tools and methods per role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Process Design Docs, Role-Based Playbooks, Training Plan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Role-specific training: responsible AI use, prompt engineering, approved SDLC processes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Training Materials (per role)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Pilot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teams use AI tools for 1 full PI; remaining teams are control group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Weekly Check-in Reports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Continuous metrics collection; compare pilot vs baseline vs control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Pilot Results Report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Playbook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Codify what worked into role-based playbooks (BA, Tester, Dev, Scrum Master) — living documents, updated continuously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Ongoing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Scale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Roll out to all 12 teams based on proven results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ART-Wide Rollout Plan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9" name="Text 26"/>
          <p:cNvSpPr/>
          <p:nvPr/>
        </p:nvSpPr>
        <p:spPr>
          <a:xfrm>
            <a:off x="1115568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8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822960"/>
            <a:ext cx="12188952" cy="36576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We Are — Govern, Baseline &amp; Design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188720" cy="411480"/>
          </a:xfrm>
          <a:prstGeom prst="roundRect">
            <a:avLst>
              <a:gd name="adj" fmla="val 11111"/>
            </a:avLst>
          </a:prstGeom>
          <a:solidFill>
            <a:srgbClr val="E9456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00584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645920" y="1005840"/>
            <a:ext cx="228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9999"/>
                </a:solidFill>
              </a:rPr>
              <a:t>→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874520" y="1005840"/>
            <a:ext cx="1188720" cy="411480"/>
          </a:xfrm>
          <a:prstGeom prst="roundRect">
            <a:avLst>
              <a:gd name="adj" fmla="val 11111"/>
            </a:avLst>
          </a:prstGeom>
          <a:solidFill>
            <a:srgbClr val="E94560"/>
          </a:solidFill>
          <a:ln/>
        </p:spPr>
      </p:sp>
      <p:sp>
        <p:nvSpPr>
          <p:cNvPr id="8" name="Text 6"/>
          <p:cNvSpPr/>
          <p:nvPr/>
        </p:nvSpPr>
        <p:spPr>
          <a:xfrm>
            <a:off x="1874520" y="100584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63240" y="1005840"/>
            <a:ext cx="228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9999"/>
                </a:solidFill>
              </a:rPr>
              <a:t>→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91840" y="1005840"/>
            <a:ext cx="1188720" cy="411480"/>
          </a:xfrm>
          <a:prstGeom prst="roundRect">
            <a:avLst>
              <a:gd name="adj" fmla="val 11111"/>
            </a:avLst>
          </a:prstGeom>
          <a:solidFill>
            <a:srgbClr val="E94560"/>
          </a:solidFill>
          <a:ln/>
        </p:spPr>
      </p:sp>
      <p:sp>
        <p:nvSpPr>
          <p:cNvPr id="11" name="Text 9"/>
          <p:cNvSpPr/>
          <p:nvPr/>
        </p:nvSpPr>
        <p:spPr>
          <a:xfrm>
            <a:off x="3291840" y="100584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480560" y="1005840"/>
            <a:ext cx="228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9999"/>
                </a:solidFill>
              </a:rPr>
              <a:t>→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09160" y="1005840"/>
            <a:ext cx="1188720" cy="411480"/>
          </a:xfrm>
          <a:prstGeom prst="roundRect">
            <a:avLst>
              <a:gd name="adj" fmla="val 11111"/>
            </a:avLst>
          </a:prstGeom>
          <a:solidFill>
            <a:srgbClr val="0F3460"/>
          </a:solidFill>
          <a:ln/>
        </p:spPr>
      </p:sp>
      <p:sp>
        <p:nvSpPr>
          <p:cNvPr id="14" name="Text 12"/>
          <p:cNvSpPr/>
          <p:nvPr/>
        </p:nvSpPr>
        <p:spPr>
          <a:xfrm>
            <a:off x="4709160" y="100584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897880" y="1005840"/>
            <a:ext cx="228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9999"/>
                </a:solidFill>
              </a:rPr>
              <a:t>→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26480" y="1005840"/>
            <a:ext cx="1188720" cy="411480"/>
          </a:xfrm>
          <a:prstGeom prst="roundRect">
            <a:avLst>
              <a:gd name="adj" fmla="val 11111"/>
            </a:avLst>
          </a:prstGeom>
          <a:solidFill>
            <a:srgbClr val="0F3460"/>
          </a:solidFill>
          <a:ln/>
        </p:spPr>
      </p:sp>
      <p:sp>
        <p:nvSpPr>
          <p:cNvPr id="17" name="Text 15"/>
          <p:cNvSpPr/>
          <p:nvPr/>
        </p:nvSpPr>
        <p:spPr>
          <a:xfrm>
            <a:off x="6126480" y="100584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15200" y="1005840"/>
            <a:ext cx="228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9999"/>
                </a:solidFill>
              </a:rPr>
              <a:t>→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543800" y="1005840"/>
            <a:ext cx="1188720" cy="411480"/>
          </a:xfrm>
          <a:prstGeom prst="roundRect">
            <a:avLst>
              <a:gd name="adj" fmla="val 11111"/>
            </a:avLst>
          </a:prstGeom>
          <a:solidFill>
            <a:srgbClr val="0F3460"/>
          </a:solidFill>
          <a:ln/>
        </p:spPr>
      </p:sp>
      <p:sp>
        <p:nvSpPr>
          <p:cNvPr id="20" name="Text 18"/>
          <p:cNvSpPr/>
          <p:nvPr/>
        </p:nvSpPr>
        <p:spPr>
          <a:xfrm>
            <a:off x="7543800" y="100584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732520" y="1005840"/>
            <a:ext cx="228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9999"/>
                </a:solidFill>
              </a:rPr>
              <a:t>→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961120" y="1005840"/>
            <a:ext cx="1188720" cy="411480"/>
          </a:xfrm>
          <a:prstGeom prst="roundRect">
            <a:avLst>
              <a:gd name="adj" fmla="val 11111"/>
            </a:avLst>
          </a:prstGeom>
          <a:solidFill>
            <a:srgbClr val="0F3460"/>
          </a:solidFill>
          <a:ln/>
        </p:spPr>
      </p:sp>
      <p:sp>
        <p:nvSpPr>
          <p:cNvPr id="23" name="Text 21"/>
          <p:cNvSpPr/>
          <p:nvPr/>
        </p:nvSpPr>
        <p:spPr>
          <a:xfrm>
            <a:off x="8961120" y="100584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Playbook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149840" y="1005840"/>
            <a:ext cx="228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9999"/>
                </a:solidFill>
              </a:rPr>
              <a:t>→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0378440" y="1005840"/>
            <a:ext cx="1188720" cy="411480"/>
          </a:xfrm>
          <a:prstGeom prst="roundRect">
            <a:avLst>
              <a:gd name="adj" fmla="val 11111"/>
            </a:avLst>
          </a:prstGeom>
          <a:solidFill>
            <a:srgbClr val="0F3460"/>
          </a:solidFill>
          <a:ln/>
        </p:spPr>
      </p:sp>
      <p:sp>
        <p:nvSpPr>
          <p:cNvPr id="26" name="Text 24"/>
          <p:cNvSpPr/>
          <p:nvPr/>
        </p:nvSpPr>
        <p:spPr>
          <a:xfrm>
            <a:off x="10378440" y="100584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16459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48640" y="20116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Review DoIT AI Policy — all 12 sections mapped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48640" y="23774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Define data guardrails (no case data, no PII in any AI tool)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48640" y="27432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Confirm approved tools &amp; licensing status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48640" y="310896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Align on constraints: no autonomous code, SDLC only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7200" y="3657600"/>
            <a:ext cx="3566160" cy="457200"/>
          </a:xfrm>
          <a:prstGeom prst="rect">
            <a:avLst>
              <a:gd name="adj" fmla="val 6000"/>
            </a:avLst>
          </a:prstGeom>
          <a:solidFill>
            <a:srgbClr val="E8F5E9"/>
          </a:solidFill>
          <a:ln/>
        </p:spPr>
      </p:sp>
      <p:sp>
        <p:nvSpPr>
          <p:cNvPr id="33" name="Text 31"/>
          <p:cNvSpPr/>
          <p:nvPr/>
        </p:nvSpPr>
        <p:spPr>
          <a:xfrm>
            <a:off x="548640" y="36576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Deliverable: AI Usage Playbook &amp; Compliance Map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297680" y="16459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389120" y="20116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Capture current metrics from JIRA (last 3 sprints)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389120" y="23774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Establish baseline per team — before AI is introduced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389120" y="27432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Identify 2 pilot teams and control group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389120" y="310896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Distribute team health survey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297680" y="3657600"/>
            <a:ext cx="3566160" cy="457200"/>
          </a:xfrm>
          <a:prstGeom prst="rect">
            <a:avLst>
              <a:gd name="adj" fmla="val 6000"/>
            </a:avLst>
          </a:prstGeom>
          <a:solidFill>
            <a:srgbClr val="E8F5E9"/>
          </a:solidFill>
          <a:ln/>
        </p:spPr>
      </p:sp>
      <p:sp>
        <p:nvSpPr>
          <p:cNvPr id="40" name="Text 38"/>
          <p:cNvSpPr/>
          <p:nvPr/>
        </p:nvSpPr>
        <p:spPr>
          <a:xfrm>
            <a:off x="4389120" y="36576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Deliverable: Baseline Metrics Report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138160" y="16459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/ Develop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8229600" y="20116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Map current state → AI-augmented state for each SDLC process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229600" y="23774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Define AI-augmented SDLC processes per role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229600" y="27432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Select tools &amp; methods for each process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229600" y="310896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Build training materials from process designs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8138160" y="3657600"/>
            <a:ext cx="3566160" cy="457200"/>
          </a:xfrm>
          <a:prstGeom prst="rect">
            <a:avLst>
              <a:gd name="adj" fmla="val 6000"/>
            </a:avLst>
          </a:prstGeom>
          <a:solidFill>
            <a:srgbClr val="E8F5E9"/>
          </a:solidFill>
          <a:ln/>
        </p:spPr>
      </p:sp>
      <p:sp>
        <p:nvSpPr>
          <p:cNvPr id="47" name="Text 45"/>
          <p:cNvSpPr/>
          <p:nvPr/>
        </p:nvSpPr>
        <p:spPr>
          <a:xfrm>
            <a:off x="8229600" y="36576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Deliverable: Process Design Docs, Role-Based Playbooks &amp; Training Plan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57200" y="4389120"/>
            <a:ext cx="11274552" cy="457200"/>
          </a:xfrm>
          <a:prstGeom prst="rect">
            <a:avLst>
              <a:gd name="adj" fmla="val 6000"/>
            </a:avLst>
          </a:prstGeom>
          <a:solidFill>
            <a:srgbClr val="E3F2FD"/>
          </a:solidFill>
          <a:ln/>
        </p:spPr>
      </p:sp>
      <p:sp>
        <p:nvSpPr>
          <p:cNvPr id="49" name="Text 47"/>
          <p:cNvSpPr/>
          <p:nvPr/>
        </p:nvSpPr>
        <p:spPr>
          <a:xfrm>
            <a:off x="640080" y="43891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where your input is critical — which processes matter most, what data is available, and which teams are right for the pilot.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115568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8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822960"/>
            <a:ext cx="12188952" cy="36576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Train, Pilot &amp; Measure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188720" cy="411480"/>
          </a:xfrm>
          <a:prstGeom prst="roundRect">
            <a:avLst>
              <a:gd name="adj" fmla="val 11111"/>
            </a:avLst>
          </a:prstGeom>
          <a:solidFill>
            <a:srgbClr val="0F346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00584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645920" y="1005840"/>
            <a:ext cx="228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9999"/>
                </a:solidFill>
              </a:rPr>
              <a:t>→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874520" y="1005840"/>
            <a:ext cx="1188720" cy="411480"/>
          </a:xfrm>
          <a:prstGeom prst="roundRect">
            <a:avLst>
              <a:gd name="adj" fmla="val 11111"/>
            </a:avLst>
          </a:prstGeom>
          <a:solidFill>
            <a:srgbClr val="0F3460"/>
          </a:solidFill>
          <a:ln/>
        </p:spPr>
      </p:sp>
      <p:sp>
        <p:nvSpPr>
          <p:cNvPr id="8" name="Text 6"/>
          <p:cNvSpPr/>
          <p:nvPr/>
        </p:nvSpPr>
        <p:spPr>
          <a:xfrm>
            <a:off x="1874520" y="100584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63240" y="1005840"/>
            <a:ext cx="228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9999"/>
                </a:solidFill>
              </a:rPr>
              <a:t>→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91840" y="1005840"/>
            <a:ext cx="1188720" cy="411480"/>
          </a:xfrm>
          <a:prstGeom prst="roundRect">
            <a:avLst>
              <a:gd name="adj" fmla="val 11111"/>
            </a:avLst>
          </a:prstGeom>
          <a:solidFill>
            <a:srgbClr val="0F3460"/>
          </a:solidFill>
          <a:ln/>
        </p:spPr>
      </p:sp>
      <p:sp>
        <p:nvSpPr>
          <p:cNvPr id="11" name="Text 9"/>
          <p:cNvSpPr/>
          <p:nvPr/>
        </p:nvSpPr>
        <p:spPr>
          <a:xfrm>
            <a:off x="3291840" y="100584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480560" y="1005840"/>
            <a:ext cx="228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9999"/>
                </a:solidFill>
              </a:rPr>
              <a:t>→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09160" y="1005840"/>
            <a:ext cx="1188720" cy="411480"/>
          </a:xfrm>
          <a:prstGeom prst="roundRect">
            <a:avLst>
              <a:gd name="adj" fmla="val 11111"/>
            </a:avLst>
          </a:prstGeom>
          <a:solidFill>
            <a:srgbClr val="E94560"/>
          </a:solidFill>
          <a:ln/>
        </p:spPr>
      </p:sp>
      <p:sp>
        <p:nvSpPr>
          <p:cNvPr id="14" name="Text 12"/>
          <p:cNvSpPr/>
          <p:nvPr/>
        </p:nvSpPr>
        <p:spPr>
          <a:xfrm>
            <a:off x="4709160" y="100584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897880" y="1005840"/>
            <a:ext cx="228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9999"/>
                </a:solidFill>
              </a:rPr>
              <a:t>→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26480" y="1005840"/>
            <a:ext cx="1188720" cy="411480"/>
          </a:xfrm>
          <a:prstGeom prst="roundRect">
            <a:avLst>
              <a:gd name="adj" fmla="val 11111"/>
            </a:avLst>
          </a:prstGeom>
          <a:solidFill>
            <a:srgbClr val="E94560"/>
          </a:solidFill>
          <a:ln/>
        </p:spPr>
      </p:sp>
      <p:sp>
        <p:nvSpPr>
          <p:cNvPr id="17" name="Text 15"/>
          <p:cNvSpPr/>
          <p:nvPr/>
        </p:nvSpPr>
        <p:spPr>
          <a:xfrm>
            <a:off x="6126480" y="100584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15200" y="1005840"/>
            <a:ext cx="228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9999"/>
                </a:solidFill>
              </a:rPr>
              <a:t>→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543800" y="1005840"/>
            <a:ext cx="1188720" cy="411480"/>
          </a:xfrm>
          <a:prstGeom prst="roundRect">
            <a:avLst>
              <a:gd name="adj" fmla="val 11111"/>
            </a:avLst>
          </a:prstGeom>
          <a:solidFill>
            <a:srgbClr val="E94560"/>
          </a:solidFill>
          <a:ln/>
        </p:spPr>
      </p:sp>
      <p:sp>
        <p:nvSpPr>
          <p:cNvPr id="20" name="Text 18"/>
          <p:cNvSpPr/>
          <p:nvPr/>
        </p:nvSpPr>
        <p:spPr>
          <a:xfrm>
            <a:off x="7543800" y="100584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732520" y="1005840"/>
            <a:ext cx="228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9999"/>
                </a:solidFill>
              </a:rPr>
              <a:t>→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961120" y="1005840"/>
            <a:ext cx="1188720" cy="411480"/>
          </a:xfrm>
          <a:prstGeom prst="roundRect">
            <a:avLst>
              <a:gd name="adj" fmla="val 11111"/>
            </a:avLst>
          </a:prstGeom>
          <a:solidFill>
            <a:srgbClr val="0F3460"/>
          </a:solidFill>
          <a:ln/>
        </p:spPr>
      </p:sp>
      <p:sp>
        <p:nvSpPr>
          <p:cNvPr id="23" name="Text 21"/>
          <p:cNvSpPr/>
          <p:nvPr/>
        </p:nvSpPr>
        <p:spPr>
          <a:xfrm>
            <a:off x="8961120" y="100584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Playbook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149840" y="1005840"/>
            <a:ext cx="228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9999"/>
                </a:solidFill>
              </a:rPr>
              <a:t>→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0378440" y="1005840"/>
            <a:ext cx="1188720" cy="411480"/>
          </a:xfrm>
          <a:prstGeom prst="roundRect">
            <a:avLst>
              <a:gd name="adj" fmla="val 11111"/>
            </a:avLst>
          </a:prstGeom>
          <a:solidFill>
            <a:srgbClr val="0F3460"/>
          </a:solidFill>
          <a:ln/>
        </p:spPr>
      </p:sp>
      <p:sp>
        <p:nvSpPr>
          <p:cNvPr id="26" name="Text 24"/>
          <p:cNvSpPr/>
          <p:nvPr/>
        </p:nvSpPr>
        <p:spPr>
          <a:xfrm>
            <a:off x="10378440" y="100584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16459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48640" y="201168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Everyone gets: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48640" y="228600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DoIT AI Policy compliance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48640" y="256032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Data guardrails &amp; boundaries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48640" y="283464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What success looks like &amp; how we measure it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48640" y="310896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Role-specific: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48640" y="338328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BAs — story quality, AC generation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48640" y="365760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Testers — test script generation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48640" y="393192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Devs — code review, documentation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48640" y="420624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Scrum Masters — sprint insights, metrics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57200" y="4754880"/>
            <a:ext cx="3566160" cy="457200"/>
          </a:xfrm>
          <a:prstGeom prst="rect">
            <a:avLst>
              <a:gd name="adj" fmla="val 6000"/>
            </a:avLst>
          </a:prstGeom>
          <a:solidFill>
            <a:srgbClr val="E8F5E9"/>
          </a:solidFill>
          <a:ln/>
        </p:spPr>
      </p:sp>
      <p:sp>
        <p:nvSpPr>
          <p:cNvPr id="38" name="Text 36"/>
          <p:cNvSpPr/>
          <p:nvPr/>
        </p:nvSpPr>
        <p:spPr>
          <a:xfrm>
            <a:off x="548640" y="475488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Deliverable: Training Completion Report (per role)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297680" y="16459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4389120" y="201168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2 teams with AI tools &amp; training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389120" y="228600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Remaining teams as control group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389120" y="256032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Learn and iterate — weekly check-ins to adjust what's working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389120" y="283464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Not a "set and forget" — continuous learning cycle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297680" y="4754880"/>
            <a:ext cx="3566160" cy="457200"/>
          </a:xfrm>
          <a:prstGeom prst="rect">
            <a:avLst>
              <a:gd name="adj" fmla="val 6000"/>
            </a:avLst>
          </a:prstGeom>
          <a:solidFill>
            <a:srgbClr val="E8F5E9"/>
          </a:solidFill>
          <a:ln/>
        </p:spPr>
      </p:sp>
      <p:sp>
        <p:nvSpPr>
          <p:cNvPr id="45" name="Text 43"/>
          <p:cNvSpPr/>
          <p:nvPr/>
        </p:nvSpPr>
        <p:spPr>
          <a:xfrm>
            <a:off x="4389120" y="475488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Deliverable: Weekly Check-in Reports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138160" y="16459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8229600" y="201168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Pre &amp; post comparison against baseline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8229600" y="228600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Pilot teams vs control teams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8229600" y="256032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Up to 8 KPIs tied to specific SDLC processes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8229600" y="283464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Team health survey (before &amp; after)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8229600" y="310896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Lessons learned &amp; improvements for next phase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8138160" y="4754880"/>
            <a:ext cx="3566160" cy="457200"/>
          </a:xfrm>
          <a:prstGeom prst="rect">
            <a:avLst>
              <a:gd name="adj" fmla="val 6000"/>
            </a:avLst>
          </a:prstGeom>
          <a:solidFill>
            <a:srgbClr val="E8F5E9"/>
          </a:solidFill>
          <a:ln/>
        </p:spPr>
      </p:sp>
      <p:sp>
        <p:nvSpPr>
          <p:cNvPr id="53" name="Text 51"/>
          <p:cNvSpPr/>
          <p:nvPr/>
        </p:nvSpPr>
        <p:spPr>
          <a:xfrm>
            <a:off x="8229600" y="475488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Deliverable: Pilot Results Report, Lessons Learned &amp; Scale Recommendation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115568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8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822960"/>
            <a:ext cx="12188952" cy="36576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Playbook &amp; Scale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188720" cy="411480"/>
          </a:xfrm>
          <a:prstGeom prst="roundRect">
            <a:avLst>
              <a:gd name="adj" fmla="val 11111"/>
            </a:avLst>
          </a:prstGeom>
          <a:solidFill>
            <a:srgbClr val="0F346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00584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645920" y="1005840"/>
            <a:ext cx="228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9999"/>
                </a:solidFill>
              </a:rPr>
              <a:t>→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874520" y="1005840"/>
            <a:ext cx="1188720" cy="411480"/>
          </a:xfrm>
          <a:prstGeom prst="roundRect">
            <a:avLst>
              <a:gd name="adj" fmla="val 11111"/>
            </a:avLst>
          </a:prstGeom>
          <a:solidFill>
            <a:srgbClr val="0F3460"/>
          </a:solidFill>
          <a:ln/>
        </p:spPr>
      </p:sp>
      <p:sp>
        <p:nvSpPr>
          <p:cNvPr id="8" name="Text 6"/>
          <p:cNvSpPr/>
          <p:nvPr/>
        </p:nvSpPr>
        <p:spPr>
          <a:xfrm>
            <a:off x="1874520" y="100584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63240" y="1005840"/>
            <a:ext cx="228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9999"/>
                </a:solidFill>
              </a:rPr>
              <a:t>→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91840" y="1005840"/>
            <a:ext cx="1188720" cy="411480"/>
          </a:xfrm>
          <a:prstGeom prst="roundRect">
            <a:avLst>
              <a:gd name="adj" fmla="val 11111"/>
            </a:avLst>
          </a:prstGeom>
          <a:solidFill>
            <a:srgbClr val="0F3460"/>
          </a:solidFill>
          <a:ln/>
        </p:spPr>
      </p:sp>
      <p:sp>
        <p:nvSpPr>
          <p:cNvPr id="11" name="Text 9"/>
          <p:cNvSpPr/>
          <p:nvPr/>
        </p:nvSpPr>
        <p:spPr>
          <a:xfrm>
            <a:off x="3291840" y="100584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480560" y="1005840"/>
            <a:ext cx="228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9999"/>
                </a:solidFill>
              </a:rPr>
              <a:t>→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09160" y="1005840"/>
            <a:ext cx="1188720" cy="411480"/>
          </a:xfrm>
          <a:prstGeom prst="roundRect">
            <a:avLst>
              <a:gd name="adj" fmla="val 11111"/>
            </a:avLst>
          </a:prstGeom>
          <a:solidFill>
            <a:srgbClr val="0F3460"/>
          </a:solidFill>
          <a:ln/>
        </p:spPr>
      </p:sp>
      <p:sp>
        <p:nvSpPr>
          <p:cNvPr id="14" name="Text 12"/>
          <p:cNvSpPr/>
          <p:nvPr/>
        </p:nvSpPr>
        <p:spPr>
          <a:xfrm>
            <a:off x="4709160" y="100584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897880" y="1005840"/>
            <a:ext cx="228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9999"/>
                </a:solidFill>
              </a:rPr>
              <a:t>→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26480" y="1005840"/>
            <a:ext cx="1188720" cy="411480"/>
          </a:xfrm>
          <a:prstGeom prst="roundRect">
            <a:avLst>
              <a:gd name="adj" fmla="val 11111"/>
            </a:avLst>
          </a:prstGeom>
          <a:solidFill>
            <a:srgbClr val="0F3460"/>
          </a:solidFill>
          <a:ln/>
        </p:spPr>
      </p:sp>
      <p:sp>
        <p:nvSpPr>
          <p:cNvPr id="17" name="Text 15"/>
          <p:cNvSpPr/>
          <p:nvPr/>
        </p:nvSpPr>
        <p:spPr>
          <a:xfrm>
            <a:off x="6126480" y="100584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15200" y="1005840"/>
            <a:ext cx="228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9999"/>
                </a:solidFill>
              </a:rPr>
              <a:t>→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543800" y="1005840"/>
            <a:ext cx="1188720" cy="411480"/>
          </a:xfrm>
          <a:prstGeom prst="roundRect">
            <a:avLst>
              <a:gd name="adj" fmla="val 11111"/>
            </a:avLst>
          </a:prstGeom>
          <a:solidFill>
            <a:srgbClr val="0F3460"/>
          </a:solidFill>
          <a:ln/>
        </p:spPr>
      </p:sp>
      <p:sp>
        <p:nvSpPr>
          <p:cNvPr id="20" name="Text 18"/>
          <p:cNvSpPr/>
          <p:nvPr/>
        </p:nvSpPr>
        <p:spPr>
          <a:xfrm>
            <a:off x="7543800" y="100584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732520" y="1005840"/>
            <a:ext cx="228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9999"/>
                </a:solidFill>
              </a:rPr>
              <a:t>→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961120" y="1005840"/>
            <a:ext cx="1188720" cy="411480"/>
          </a:xfrm>
          <a:prstGeom prst="roundRect">
            <a:avLst>
              <a:gd name="adj" fmla="val 11111"/>
            </a:avLst>
          </a:prstGeom>
          <a:solidFill>
            <a:srgbClr val="E94560"/>
          </a:solidFill>
          <a:ln/>
        </p:spPr>
      </p:sp>
      <p:sp>
        <p:nvSpPr>
          <p:cNvPr id="23" name="Text 21"/>
          <p:cNvSpPr/>
          <p:nvPr/>
        </p:nvSpPr>
        <p:spPr>
          <a:xfrm>
            <a:off x="8961120" y="100584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Playbook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149840" y="1005840"/>
            <a:ext cx="228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9999"/>
                </a:solidFill>
              </a:rPr>
              <a:t>→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0378440" y="1005840"/>
            <a:ext cx="1188720" cy="411480"/>
          </a:xfrm>
          <a:prstGeom prst="roundRect">
            <a:avLst>
              <a:gd name="adj" fmla="val 11111"/>
            </a:avLst>
          </a:prstGeom>
          <a:solidFill>
            <a:srgbClr val="E94560"/>
          </a:solidFill>
          <a:ln/>
        </p:spPr>
      </p:sp>
      <p:sp>
        <p:nvSpPr>
          <p:cNvPr id="26" name="Text 24"/>
          <p:cNvSpPr/>
          <p:nvPr/>
        </p:nvSpPr>
        <p:spPr>
          <a:xfrm>
            <a:off x="10378440" y="100584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16459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Playbook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57200" y="2011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Living documents — started during Design, refined through Pilot, finalized at Scale: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40080" y="237744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BA Playbook — story writing, AC generation, refinement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40080" y="265176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Tester Playbook — test script generation, edge cases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40080" y="292608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Developer Playbook — code review, documentation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40080" y="320040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Scrum Master Playbook — sprint insights, metrics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playbook includes: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" y="384048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What works, what doesn't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40080" y="411480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Prompts &amp; processes that proved effective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40080" y="438912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Guardrails &amp; compliance reminders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40080" y="466344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Lessons learned from pilot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5029200"/>
            <a:ext cx="5486400" cy="365760"/>
          </a:xfrm>
          <a:prstGeom prst="rect">
            <a:avLst>
              <a:gd name="adj" fmla="val 7500"/>
            </a:avLst>
          </a:prstGeom>
          <a:solidFill>
            <a:srgbClr val="E8F5E9"/>
          </a:solidFill>
          <a:ln/>
        </p:spPr>
      </p:sp>
      <p:sp>
        <p:nvSpPr>
          <p:cNvPr id="39" name="Text 37"/>
          <p:cNvSpPr/>
          <p:nvPr/>
        </p:nvSpPr>
        <p:spPr>
          <a:xfrm>
            <a:off x="548640" y="502920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Deliverable: Finalized Playbooks (updated with pilot lessons learned)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400800" y="16459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6400800" y="2011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 from pilot to all 12 teams — based on proven results, not assumptions.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583680" y="237744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Go/no-go decision based on pilot data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583680" y="269748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Pilot team members become AI champions for their ART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583680" y="301752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Phased rollout — not all 12 at once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583680" y="333756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Continuous measurement continues at ART level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583680" y="365760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Playbooks updated as more teams adopt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400800" y="5029200"/>
            <a:ext cx="5486400" cy="365760"/>
          </a:xfrm>
          <a:prstGeom prst="rect">
            <a:avLst>
              <a:gd name="adj" fmla="val 7500"/>
            </a:avLst>
          </a:prstGeom>
          <a:solidFill>
            <a:srgbClr val="E8F5E9"/>
          </a:solidFill>
          <a:ln/>
        </p:spPr>
      </p:sp>
      <p:sp>
        <p:nvSpPr>
          <p:cNvPr id="48" name="Text 46"/>
          <p:cNvSpPr/>
          <p:nvPr/>
        </p:nvSpPr>
        <p:spPr>
          <a:xfrm>
            <a:off x="6492240" y="502920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Deliverable: ART-Wide Rollout Plan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1115568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8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Discussion &amp; Next Steps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21945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4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showed: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743200" y="219456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intent — a framework we're building for ILC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27432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4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need: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743200" y="274320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expectations, priorities, and feedback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3657600"/>
            <a:ext cx="36576" cy="201168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374904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does success look like to you?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31520" y="420624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AI tools do we have access to right now?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466344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should we focus on first?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1520" y="512064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concerns do you have?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0" y="630936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KRASAN CONSULTING SERVICES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Krasan Consulting Services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AI-Augmented Agile Delivery — Framework for DCFS Illinois Connect</dc:title>
  <dc:subject>PptxGenJS Presentation</dc:subject>
  <dc:creator>Krasan Consulting Services</dc:creator>
  <cp:lastModifiedBy>Krasan Consulting Services</cp:lastModifiedBy>
  <cp:revision>1</cp:revision>
  <dcterms:created xsi:type="dcterms:W3CDTF">2026-04-17T21:28:29Z</dcterms:created>
  <dcterms:modified xsi:type="dcterms:W3CDTF">2026-04-17T21:28:29Z</dcterms:modified>
</cp:coreProperties>
</file>